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1675"/>
  <p:notesSz cx="6858000" cy="12191675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85800"/>
            <a:ext cx="7873803" cy="4237831"/>
          </a:xfrm>
          <a:prstGeom prst="roundRect">
            <a:avLst>
              <a:gd name="adj" fmla="val 989"/>
            </a:avLst>
          </a:prstGeom>
          <a:solidFill>
            <a:srgbClr val="F8F4EA"/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1079183"/>
            <a:ext cx="751821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LANGUAGE ·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173" y="1491853"/>
            <a:ext cx="6908627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000000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Morphological</a:t>
            </a:r>
            <a:endParaRPr lang="en-US" sz="6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000000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Analysis in</a:t>
            </a:r>
            <a:endParaRPr lang="en-US" sz="6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000000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Indian Languages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92173" y="4099798"/>
            <a:ext cx="7518212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How words carry meaning in smaller parts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The building blocks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Words are built from smaller parts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551781"/>
            <a:ext cx="11277318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 word can contain a root plus added parts.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These parts can show meaning, number, gender, case, or time.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189" y="2566392"/>
            <a:ext cx="322155" cy="2794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566392"/>
            <a:ext cx="93174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189" y="2957513"/>
            <a:ext cx="3555812" cy="1905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8" name="Text 6"/>
          <p:cNvSpPr/>
          <p:nvPr/>
        </p:nvSpPr>
        <p:spPr>
          <a:xfrm>
            <a:off x="457189" y="3150660"/>
            <a:ext cx="35559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Root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189" y="3662224"/>
            <a:ext cx="355591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The main meaning or base.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17892" y="2566392"/>
            <a:ext cx="341998" cy="2794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11" name="Text 9"/>
          <p:cNvSpPr/>
          <p:nvPr/>
        </p:nvSpPr>
        <p:spPr>
          <a:xfrm>
            <a:off x="4317892" y="2566392"/>
            <a:ext cx="9515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17892" y="2957513"/>
            <a:ext cx="3555812" cy="1905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13" name="Text 11"/>
          <p:cNvSpPr/>
          <p:nvPr/>
        </p:nvSpPr>
        <p:spPr>
          <a:xfrm>
            <a:off x="4317892" y="3150660"/>
            <a:ext cx="35559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Added part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17892" y="3662224"/>
            <a:ext cx="355591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A piece that adds information.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78595" y="2566392"/>
            <a:ext cx="349043" cy="27940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8595" y="2566392"/>
            <a:ext cx="9586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78595" y="2957513"/>
            <a:ext cx="3555812" cy="19050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18" name="Text 16"/>
          <p:cNvSpPr/>
          <p:nvPr/>
        </p:nvSpPr>
        <p:spPr>
          <a:xfrm>
            <a:off x="8178595" y="3150660"/>
            <a:ext cx="35559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Whole word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78595" y="3662224"/>
            <a:ext cx="355591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Meaning plus grammar together.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The basic task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What does analysis do?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551781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603" y="1656556"/>
            <a:ext cx="74769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25519" y="1618623"/>
            <a:ext cx="1050898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Find the root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25519" y="2130187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Identify the main root or base word.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189" y="2806402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2681" y="2911177"/>
            <a:ext cx="767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25519" y="2873244"/>
            <a:ext cx="1050898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Separate the parts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5519" y="3384808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Split the word into its meaningful pieces.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189" y="4061023"/>
            <a:ext cx="488938" cy="488950"/>
          </a:xfrm>
          <a:prstGeom prst="ellipse">
            <a:avLst/>
          </a:prstGeom>
          <a:solidFill>
            <a:srgbClr val="1E3A2C"/>
          </a:solidFill>
          <a:ln w="31749">
            <a:solidFill>
              <a:srgbClr val="D3C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209" y="4165798"/>
            <a:ext cx="77448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8F4EA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25519" y="4127866"/>
            <a:ext cx="1050898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Explain the grammar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5519" y="4639429"/>
            <a:ext cx="1050898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Say what each part tells us.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Hindi · worked example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 simple Hindi example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529556"/>
            <a:ext cx="11277318" cy="1944291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770539"/>
            <a:ext cx="1104872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1E3A2C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BASE WORD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783" y="2167334"/>
            <a:ext cx="10820129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72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ladaka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783" y="2969022"/>
            <a:ext cx="110487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the base 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189" y="3626247"/>
            <a:ext cx="11277318" cy="1944291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9" name="Text 7"/>
          <p:cNvSpPr/>
          <p:nvPr/>
        </p:nvSpPr>
        <p:spPr>
          <a:xfrm>
            <a:off x="685783" y="3867229"/>
            <a:ext cx="1104872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000000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783" y="4264025"/>
            <a:ext cx="10820129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72" kern="100" dirty="0">
                <a:solidFill>
                  <a:srgbClr val="000000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ladake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5783" y="5065713"/>
            <a:ext cx="110487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base plus an added ending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189" y="5779452"/>
            <a:ext cx="1127731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1E3A2C"/>
                </a:solidFill>
                <a:latin typeface="Inclusive Sans Bold" pitchFamily="34" charset="0"/>
                <a:ea typeface="Inclusive Sans Bold" pitchFamily="34" charset="-122"/>
                <a:cs typeface="Inclusive Sans Bold" pitchFamily="34" charset="-120"/>
              </a:rPr>
              <a:t>ladake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 can be linked to the base word </a:t>
            </a:r>
            <a:pPr algn="l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1E3A2C"/>
                </a:solidFill>
                <a:latin typeface="Inclusive Sans Bold" pitchFamily="34" charset="0"/>
                <a:ea typeface="Inclusive Sans Bold" pitchFamily="34" charset="-122"/>
                <a:cs typeface="Inclusive Sans Bold" pitchFamily="34" charset="-120"/>
              </a:rPr>
              <a:t>ladaka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. The form can carry information about number and grammatical use.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69583"/>
            <a:ext cx="1153131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Tamil · worked example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60383" y="845423"/>
            <a:ext cx="11074123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 simple Tamil example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1529556"/>
            <a:ext cx="11074123" cy="1944291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1770539"/>
            <a:ext cx="1084552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1E3A2C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BASE MEANING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8978" y="2167334"/>
            <a:ext cx="1061693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72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pillai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88978" y="2969022"/>
            <a:ext cx="108455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children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0383" y="3626247"/>
            <a:ext cx="11074123" cy="1944291"/>
          </a:xfrm>
          <a:prstGeom prst="rect">
            <a:avLst/>
          </a:prstGeom>
          <a:solidFill>
            <a:srgbClr val="E1E7D6"/>
          </a:solidFill>
          <a:ln/>
        </p:spPr>
      </p:sp>
      <p:sp>
        <p:nvSpPr>
          <p:cNvPr id="9" name="Text 7"/>
          <p:cNvSpPr/>
          <p:nvPr/>
        </p:nvSpPr>
        <p:spPr>
          <a:xfrm>
            <a:off x="888978" y="3867229"/>
            <a:ext cx="1084552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000000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ADDED ENDING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8978" y="4264025"/>
            <a:ext cx="1061693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72" kern="100" dirty="0">
                <a:solidFill>
                  <a:srgbClr val="000000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-gal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88978" y="5065713"/>
            <a:ext cx="108455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plural and grammatical direction or purpose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383" y="5779452"/>
            <a:ext cx="110741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1E3A2C"/>
                </a:solidFill>
                <a:latin typeface="Inclusive Sans Bold" pitchFamily="34" charset="0"/>
                <a:ea typeface="Inclusive Sans Bold" pitchFamily="34" charset="-122"/>
                <a:cs typeface="Inclusive Sans Bold" pitchFamily="34" charset="-120"/>
              </a:rPr>
              <a:t>pilligal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 can be read as a base meaning “children” plus an added ending. The ending helps show plural meaning and direction or purpose.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A closer look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Why Indian languages need careful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551781"/>
            <a:ext cx="11277318" cy="1346696"/>
          </a:xfrm>
          <a:prstGeom prst="roundRect">
            <a:avLst>
              <a:gd name="adj" fmla="val 849"/>
            </a:avLst>
          </a:prstGeom>
          <a:solidFill>
            <a:srgbClr val="E1E7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663" y="1780421"/>
            <a:ext cx="558786" cy="55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5983" y="1786898"/>
            <a:ext cx="10009929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Several clues can travel together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495983" y="2298462"/>
            <a:ext cx="1023852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One word may carry several pieces of grammatical information.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189" y="3203277"/>
            <a:ext cx="11277318" cy="1723827"/>
          </a:xfrm>
          <a:prstGeom prst="roundRect">
            <a:avLst>
              <a:gd name="adj" fmla="val 663"/>
            </a:avLst>
          </a:prstGeom>
          <a:solidFill>
            <a:srgbClr val="E1E7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63" y="3431917"/>
            <a:ext cx="558786" cy="55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5983" y="3438394"/>
            <a:ext cx="10009929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Endings and compounds matter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495983" y="3949958"/>
            <a:ext cx="10009929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Many Dravidian languages build rich word forms with endings and compounds.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From language to tools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1E3A2C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Where is it useful?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551781"/>
            <a:ext cx="558786" cy="55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2250448"/>
            <a:ext cx="345431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Search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189" y="2762012"/>
            <a:ext cx="345431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Find related word forms.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1551781"/>
            <a:ext cx="558786" cy="55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8691" y="2250448"/>
            <a:ext cx="345431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Spell-checking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368691" y="2762012"/>
            <a:ext cx="345431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Recognize forms more accurately.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1551781"/>
            <a:ext cx="558786" cy="558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80193" y="2250448"/>
            <a:ext cx="345431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Translation and speech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280193" y="2762012"/>
            <a:ext cx="345431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Help language tools read grammar.</a:t>
            </a:r>
            <a:endParaRPr lang="en-US" sz="2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3967758"/>
            <a:ext cx="558786" cy="558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189" y="4666425"/>
            <a:ext cx="1127731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dirty="0">
                <a:solidFill>
                  <a:srgbClr val="1E3A2C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-120"/>
              </a:rPr>
              <a:t>Reading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457189" y="5177988"/>
            <a:ext cx="11277318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Understand a sentence more precisely.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5391" y="1685905"/>
            <a:ext cx="219039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4F5F52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-120"/>
              </a:rPr>
              <a:t>The takeaway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111025" y="2098576"/>
            <a:ext cx="11277318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Break the word.</a:t>
            </a:r>
            <a:endParaRPr lang="en-US" sz="6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1E3A2C"/>
                </a:solidFill>
                <a:latin typeface="Signika Bold" pitchFamily="34" charset="0"/>
                <a:ea typeface="Signika Bold" pitchFamily="34" charset="-122"/>
                <a:cs typeface="Signika Bold" pitchFamily="34" charset="-120"/>
              </a:rPr>
              <a:t>See the grammar.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235046" y="3962797"/>
            <a:ext cx="3721503" cy="57150"/>
          </a:xfrm>
          <a:prstGeom prst="roundRect">
            <a:avLst>
              <a:gd name="adj" fmla="val 49999"/>
            </a:avLst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4295854"/>
            <a:ext cx="11277318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E3A2C"/>
                </a:solidFill>
                <a:latin typeface="Inclusive Sans" pitchFamily="34" charset="0"/>
                <a:ea typeface="Inclusive Sans" pitchFamily="34" charset="-122"/>
                <a:cs typeface="Inclusive Sans" pitchFamily="34" charset="-120"/>
              </a:rPr>
              <a:t>Morphological analysis breaks a word into meaningful parts so computers and people can understand its grammar.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